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95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angle_interior_scene_of_a_modern_fire_stati.png"/>
          <p:cNvPicPr>
            <a:picLocks noChangeAspect="1"/>
          </p:cNvPicPr>
          <p:nvPr/>
        </p:nvPicPr>
        <p:blipFill>
          <a:blip r:embed="rId3"/>
          <a:srcRect l="22000" r="24121"/>
          <a:stretch/>
        </p:blipFill>
        <p:spPr>
          <a:xfrm>
            <a:off x="5623560" y="0"/>
            <a:ext cx="6565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28600"/>
            <a:ext cx="23317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1" descr="/mnt/data/logo_du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2327"/>
            <a:ext cx="2057400" cy="50577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1417320"/>
            <a:ext cx="2194560" cy="347472"/>
          </a:xfrm>
          <a:prstGeom prst="roundRect">
            <a:avLst>
              <a:gd name="adj" fmla="val 23684"/>
            </a:avLst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2"/>
          <p:cNvSpPr/>
          <p:nvPr/>
        </p:nvSpPr>
        <p:spPr>
          <a:xfrm>
            <a:off x="749808" y="148132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Capstone · Proyecto APT</a:t>
            </a:r>
            <a:endParaRPr lang="en-US" sz="880" dirty="0"/>
          </a:p>
        </p:txBody>
      </p:sp>
      <p:sp>
        <p:nvSpPr>
          <p:cNvPr id="7" name="Text 3"/>
          <p:cNvSpPr/>
          <p:nvPr/>
        </p:nvSpPr>
        <p:spPr>
          <a:xfrm>
            <a:off x="64008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Sistema de Control y Seguimiento de Mantención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40080" y="2999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DB913"/>
                </a:solidFill>
              </a:rPr>
              <a:t>Vehículos de Emergencia · Bomberos de Talcahuano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0080" y="3950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Solución sobre Odoo Community + PostgreSQL + PWA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" y="6144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5E1EA"/>
                </a:solidFill>
              </a:rPr>
              <a:t>Integrantes: Rodrigo Saavedra · Benjamin Morales · Eddie Cerpa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Contexto del proyecto y propósito general</a:t>
            </a:r>
            <a:endParaRPr lang="en-US" sz="950" dirty="0"/>
          </a:p>
        </p:txBody>
      </p:sp>
      <p:pic>
        <p:nvPicPr>
          <p:cNvPr id="6" name="Image 1" descr="/mnt/data/a_wide_angle_interior_scene_of_a_modern_fire_stati.png"/>
          <p:cNvPicPr>
            <a:picLocks noChangeAspect="1"/>
          </p:cNvPicPr>
          <p:nvPr/>
        </p:nvPicPr>
        <p:blipFill>
          <a:blip r:embed="rId4"/>
          <a:srcRect l="52000" r="-4799"/>
          <a:stretch/>
        </p:blipFill>
        <p:spPr>
          <a:xfrm>
            <a:off x="685800" y="1298448"/>
            <a:ext cx="4160520" cy="4434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5532120"/>
            <a:ext cx="4160520" cy="201168"/>
          </a:xfrm>
          <a:prstGeom prst="rect">
            <a:avLst/>
          </a:prstGeom>
          <a:solidFill>
            <a:srgbClr val="FDB91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5285232" y="132588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B49"/>
                </a:solidFill>
              </a:rPr>
              <a:t>El proyecto busca apoyar la gestión de la flota de emergencia mediante una plataforma digital que centralice información clave para la operación.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49240" y="25146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0" y="25237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Controlar estado de vehículos de emergencia.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49240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69280" y="30083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Registrar mantenciones preventivas y reactivas.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49240" y="34838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0" y="3493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Centralizar costos, insumos y mano de obra.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396849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6928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Entregar información clara para la toma de decisiones.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285232" y="4846320"/>
            <a:ext cx="562356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5532120" y="5074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B49"/>
                </a:solidFill>
              </a:rPr>
              <a:t>Resultado esperado: una solución web y móvil mediante PWA, construida sobre Odoo.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Problemática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Necesidad operativa a resolver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49808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</a:rPr>
              <a:t>Riesgo central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6642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2B49"/>
                </a:solidFill>
              </a:rPr>
              <a:t>La información dispersa o poco oportuna puede dificultar el control de mantenciones y afectar la disponibilidad operativa de los vehículos de emergencia.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31520" y="2761488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731520" y="2761488"/>
            <a:ext cx="73152" cy="21031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60120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B49"/>
                </a:solidFill>
              </a:rPr>
              <a:t>Información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3337560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</a:rPr>
              <a:t>Dificultad para consultar rápidamente estado, historial y documentación de cada vehículo.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43984" y="2761488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4443984" y="2761488"/>
            <a:ext cx="73152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4672584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B49"/>
                </a:solidFill>
              </a:rPr>
              <a:t>Mantención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72584" y="3337560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</a:rPr>
              <a:t>Necesidad de registrar actividades preventivas, correctivas, materiales, mano de obra y alertas.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56448" y="2761488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8156448" y="2761488"/>
            <a:ext cx="73152" cy="210312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8385048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B49"/>
                </a:solidFill>
              </a:rPr>
              <a:t>Decisión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85048" y="3337560"/>
            <a:ext cx="306324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</a:rPr>
              <a:t>Falta de indicadores simples para controlar costos, disponibilidad y seguimiento de la flota.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51560" y="5358384"/>
            <a:ext cx="10149840" cy="0"/>
          </a:xfrm>
          <a:prstGeom prst="line">
            <a:avLst/>
          </a:prstGeom>
          <a:noFill/>
          <a:ln w="1397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1143000" y="55595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B49"/>
                </a:solidFill>
              </a:rPr>
              <a:t>Impacto esperado: reducir tiempos de búsqueda, mejorar trazabilidad y apoyar la continuidad operativa.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 propuesta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Plataforma web + móvil sobre Odoo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8952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770"/>
                </a:solidFill>
              </a:rPr>
              <a:t>Tecnología definida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" y="1536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B49"/>
                </a:solidFill>
              </a:rPr>
              <a:t>Odoo Community + PostgreSQL + PWA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7324D"/>
                </a:solidFill>
              </a:rPr>
              <a:t>Se utilizará Odoo como plataforma base para acelerar el desarrollo y concentrar el esfuerzo en la lógica del proyecto: vehículos, mantenciones, costos, alertas y reportes.</a:t>
            </a:r>
            <a:endParaRPr lang="en-US" sz="1380" dirty="0"/>
          </a:p>
        </p:txBody>
      </p:sp>
      <p:sp>
        <p:nvSpPr>
          <p:cNvPr id="9" name="Shape 6"/>
          <p:cNvSpPr/>
          <p:nvPr/>
        </p:nvSpPr>
        <p:spPr>
          <a:xfrm>
            <a:off x="6400800" y="2377440"/>
            <a:ext cx="1005840" cy="0"/>
          </a:xfrm>
          <a:prstGeom prst="line">
            <a:avLst/>
          </a:prstGeom>
          <a:noFill/>
          <a:ln w="25400">
            <a:solidFill>
              <a:srgbClr val="002B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8503920" y="2377440"/>
            <a:ext cx="1005840" cy="0"/>
          </a:xfrm>
          <a:prstGeom prst="line">
            <a:avLst/>
          </a:prstGeom>
          <a:noFill/>
          <a:ln w="25400">
            <a:solidFill>
              <a:srgbClr val="002B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7818120" y="2999232"/>
            <a:ext cx="0" cy="960120"/>
          </a:xfrm>
          <a:prstGeom prst="line">
            <a:avLst/>
          </a:prstGeom>
          <a:noFill/>
          <a:ln w="25400">
            <a:solidFill>
              <a:srgbClr val="002B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5577840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5577840" y="1737360"/>
            <a:ext cx="73152" cy="123444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806440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2B49"/>
                </a:solidFill>
              </a:rPr>
              <a:t>Usuarios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2313432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PC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Tablet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Celular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7479792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7479792" y="1737360"/>
            <a:ext cx="73152" cy="123444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708392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2B49"/>
                </a:solidFill>
              </a:rPr>
              <a:t>PWA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08392" y="2313432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Web responsive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instalable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9400032" y="173736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8"/>
          <p:cNvSpPr/>
          <p:nvPr/>
        </p:nvSpPr>
        <p:spPr>
          <a:xfrm>
            <a:off x="9400032" y="1737360"/>
            <a:ext cx="73152" cy="123444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9628632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2B49"/>
                </a:solidFill>
              </a:rPr>
              <a:t>Odoo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28632" y="2313432"/>
            <a:ext cx="12801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Módulos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personalizados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894576" y="397764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2"/>
          <p:cNvSpPr/>
          <p:nvPr/>
        </p:nvSpPr>
        <p:spPr>
          <a:xfrm>
            <a:off x="6894576" y="3977640"/>
            <a:ext cx="73152" cy="118872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7123176" y="4142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2B49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123176" y="4553712"/>
            <a:ext cx="1417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Datos, historial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324D"/>
                </a:solidFill>
              </a:rPr>
              <a:t>y trazabilidad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777240" y="425196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2CC"/>
          </a:solidFill>
          <a:ln w="12700">
            <a:solidFill>
              <a:srgbClr val="EAD7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987552" y="4590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B49"/>
                </a:solidFill>
              </a:rPr>
              <a:t>No se requiere una app nativa Android/iOS: el cliente autorizó resolver la parte móvil mediante PWA.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funcional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MVP del sistema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68680" y="1417320"/>
            <a:ext cx="10469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33272" y="1563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913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81912" y="15636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Vehículos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0" y="1572768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Ficha técnica, patente, compañía, estado operativo, historial y documentos.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249424"/>
            <a:ext cx="10469880" cy="658368"/>
          </a:xfrm>
          <a:prstGeom prst="roundRect">
            <a:avLst>
              <a:gd name="adj" fmla="val 6944"/>
            </a:avLst>
          </a:prstGeom>
          <a:solidFill>
            <a:srgbClr val="EAF3FB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033272" y="23957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913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81912" y="2395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Mantenciones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0" y="2404872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Preventivas y reactivas, fallas, órdenes de trabajo y seguimiento.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3081528"/>
            <a:ext cx="10469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1033272" y="3227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913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81912" y="32278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Recursos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0" y="3236976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Materiales, insumos, repuestos, mano de obra y costos asociados.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3913632"/>
            <a:ext cx="10469880" cy="658368"/>
          </a:xfrm>
          <a:prstGeom prst="roundRect">
            <a:avLst>
              <a:gd name="adj" fmla="val 6944"/>
            </a:avLst>
          </a:prstGeom>
          <a:solidFill>
            <a:srgbClr val="EAF3FB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033272" y="4059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913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581912" y="40599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Alertas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0" y="4069080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Avisos de mantenciones próximas, vencidas o pendientes de revisión.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68680" y="4745736"/>
            <a:ext cx="10469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033272" y="4892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DB913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581912" y="4892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Reportes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600" y="4901184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Indicadores básicos sobre disponibilidad, costos y estado de la flota.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0120" y="58338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B49"/>
                </a:solidFill>
              </a:rPr>
              <a:t>Criterio de alcance: priorizar lo necesario para demostrar valor, trazabilidad y gestión del ciclo de mantención.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trabajo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Scrum con desarrollo incremental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645920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3264408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4882896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6501384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8119872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9738360" y="2295144"/>
            <a:ext cx="502920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40080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731520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Inicio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749808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Mapa de actores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Visión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Impact Mapping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2258568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2350008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Backlog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2368296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Épicas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Historias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Priorización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877056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2CC"/>
          </a:solidFill>
          <a:ln w="17780">
            <a:solidFill>
              <a:srgbClr val="FDB91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3968496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Sprint 0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3986784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Odoo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PostgreSQL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Repositorio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495544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5586984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Sprint 1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5605272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Vehículos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y estados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7114032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7205472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Sprint 2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7223760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Mantenciones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y alertas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8732520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8823960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Sprint 3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842248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Insumos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costos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reportes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0351008" y="1874520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10442448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2B49"/>
                </a:solidFill>
              </a:rPr>
              <a:t>Cierre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10460736" y="22860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QA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validación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17324D"/>
                </a:solidFill>
              </a:rPr>
              <a:t>retrospectiva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914400" y="384048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1"/>
          <p:cNvSpPr/>
          <p:nvPr/>
        </p:nvSpPr>
        <p:spPr>
          <a:xfrm>
            <a:off x="914400" y="3840480"/>
            <a:ext cx="73152" cy="123444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114300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Ceremonias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143000" y="4416552"/>
            <a:ext cx="2743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324D"/>
                </a:solidFill>
              </a:rPr>
              <a:t>Sprint planning, scrumboard, burndown chart, review, retrospective e impediment log.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4480560" y="384048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5"/>
          <p:cNvSpPr/>
          <p:nvPr/>
        </p:nvSpPr>
        <p:spPr>
          <a:xfrm>
            <a:off x="4480560" y="3840480"/>
            <a:ext cx="73152" cy="123444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470916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Control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709160" y="4416552"/>
            <a:ext cx="2743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7324D"/>
                </a:solidFill>
              </a:rPr>
              <a:t>Backlog actualizado por valor, alcance y esfuerzo en cada iteración.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8046720" y="3840480"/>
            <a:ext cx="3154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39"/>
          <p:cNvSpPr/>
          <p:nvPr/>
        </p:nvSpPr>
        <p:spPr>
          <a:xfrm>
            <a:off x="8046720" y="3840480"/>
            <a:ext cx="73152" cy="123444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827532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B49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275320" y="4416552"/>
            <a:ext cx="2743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003057"/>
                </a:solidFill>
              </a:rPr>
              <a:t>Diseño de pruebas → ejecución → hallazgos → corrección → revalidación.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del equipo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Responsabilidades de los 3 integrantes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1261872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777240" y="1261872"/>
            <a:ext cx="73152" cy="320040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05840" y="14264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B49"/>
                </a:solidFill>
              </a:rPr>
              <a:t>Benjamin Morales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1837944"/>
            <a:ext cx="29718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Rol: Scrum Master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Facilita ceremonias Scrum, coordina sprints, controla impedimentos, seguimiento del plan, riesgos e hitos.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407408" y="1261872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407408" y="1261872"/>
            <a:ext cx="73152" cy="3200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636008" y="14264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B49"/>
                </a:solidFill>
              </a:rPr>
              <a:t>Eddie Cerpa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36008" y="1837944"/>
            <a:ext cx="29718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Rol: Developer Odoo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Construye módulos Odoo, modelos ORM/PostgreSQL, vistas, lógica de negocio e integración técnica.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8037576" y="1261872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3DF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8037576" y="1261872"/>
            <a:ext cx="73152" cy="320040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8266176" y="14264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B49"/>
                </a:solidFill>
              </a:rPr>
              <a:t>Rodrigo Saavedra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66176" y="1837944"/>
            <a:ext cx="29718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Rol: Product Owner / QA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</a:rPr>
              <a:t>Prioriza requerimientos, define criterios de aceptación, valida entregables y lidera pruebas funcionales.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914400" y="5074920"/>
            <a:ext cx="10378440" cy="658368"/>
          </a:xfrm>
          <a:prstGeom prst="roundRect">
            <a:avLst>
              <a:gd name="adj" fmla="val 6944"/>
            </a:avLst>
          </a:prstGeom>
          <a:solidFill>
            <a:srgbClr val="EAF3FB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143000" y="5285232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sz="1220">
                <a:solidFill>
                  <a:srgbClr val="003057"/>
                </a:solidFill>
              </a:rPr>
              <a:t>Roles principales; trabajo colaborativo mediante backlog común, Git/GitHub, revisiones de sprint, retrospectivas y QA cruzado.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A8793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28600"/>
            <a:ext cx="11201400" cy="6309360"/>
          </a:xfrm>
          <a:prstGeom prst="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6594882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s-CL" sz="3000" b="1" dirty="0">
                <a:solidFill>
                  <a:srgbClr val="F5F5F5"/>
                </a:solidFill>
              </a:rPr>
              <a:t>Claves para la ejecución del proyecto</a:t>
            </a:r>
            <a:r>
              <a:rPr sz="3000" b="1" dirty="0">
                <a:solidFill>
                  <a:srgbClr val="F5F5F5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59536"/>
            <a:ext cx="704088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500">
                <a:solidFill>
                  <a:srgbClr val="AAAEBE"/>
                </a:solidFill>
              </a:rPr>
              <a:t>Proyecto grupal · competencias complementarias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3429000" cy="1828800"/>
          </a:xfrm>
          <a:prstGeom prst="roundRect">
            <a:avLst/>
          </a:prstGeom>
          <a:solidFill>
            <a:srgbClr val="314553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581912"/>
            <a:ext cx="3026664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F5F5F5"/>
                </a:solidFill>
              </a:rPr>
              <a:t>Rodrigo Saavedra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4B941"/>
                </a:solidFill>
              </a:rPr>
              <a:t>Gestión de Proyectos · PO/QA</a:t>
            </a:r>
          </a:p>
          <a:p>
            <a:pPr>
              <a:spcBef>
                <a:spcPts val="400"/>
              </a:spcBef>
            </a:pPr>
            <a:r>
              <a:rPr sz="1330">
                <a:solidFill>
                  <a:srgbClr val="F5F5F5"/>
                </a:solidFill>
              </a:rPr>
              <a:t>Interés en levantar requerimientos, coordinar tareas, controlar avances, validar entregables y participar en la toma de decisiones del proyecto.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417320"/>
            <a:ext cx="3429000" cy="1828800"/>
          </a:xfrm>
          <a:prstGeom prst="roundRect">
            <a:avLst/>
          </a:prstGeom>
          <a:solidFill>
            <a:srgbClr val="2C4920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581912"/>
            <a:ext cx="3026664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F5F5F5"/>
                </a:solidFill>
              </a:rPr>
              <a:t>Benjamin Morales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4B941"/>
                </a:solidFill>
              </a:rPr>
              <a:t>Full Stack · Datos · Scrum</a:t>
            </a:r>
          </a:p>
          <a:p>
            <a:pPr>
              <a:spcBef>
                <a:spcPts val="400"/>
              </a:spcBef>
            </a:pPr>
            <a:r>
              <a:rPr sz="1330">
                <a:solidFill>
                  <a:srgbClr val="F5F5F5"/>
                </a:solidFill>
              </a:rPr>
              <a:t>Interés en desarrollo de software, bases de datos, analítica y fortalecimiento de la planificación bajo metodología ágil.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6136" y="1417320"/>
            <a:ext cx="3429000" cy="1828800"/>
          </a:xfrm>
          <a:prstGeom prst="roundRect">
            <a:avLst/>
          </a:prstGeom>
          <a:solidFill>
            <a:srgbClr val="5C371D"/>
          </a:solidFill>
          <a:ln w="952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47304" y="1581912"/>
            <a:ext cx="3026664" cy="1499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F5F5F5"/>
                </a:solidFill>
              </a:rPr>
              <a:t>Eddie Cerpa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4B941"/>
                </a:solidFill>
              </a:rPr>
              <a:t>Arquitectura · Integración · Despliegue</a:t>
            </a:r>
          </a:p>
          <a:p>
            <a:pPr>
              <a:spcBef>
                <a:spcPts val="400"/>
              </a:spcBef>
            </a:pPr>
            <a:r>
              <a:rPr sz="1330">
                <a:solidFill>
                  <a:srgbClr val="F5F5F5"/>
                </a:solidFill>
              </a:rPr>
              <a:t>Interés en estructurar soluciones completas, integrar componentes y asegurar que el sistema quede estable en operación.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57600"/>
            <a:ext cx="10515600" cy="1554480"/>
          </a:xfrm>
          <a:prstGeom prst="roundRect">
            <a:avLst/>
          </a:prstGeom>
          <a:solidFill>
            <a:srgbClr val="1E1E1E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3089435" cy="3693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lang="es-CL" sz="1800" b="1" dirty="0">
                <a:solidFill>
                  <a:srgbClr val="F5F5F5"/>
                </a:solidFill>
              </a:rPr>
              <a:t>Elementos clave del proyecto</a:t>
            </a:r>
            <a:endParaRPr sz="1800" b="1" dirty="0">
              <a:solidFill>
                <a:srgbClr val="F5F5F5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3000" y="4279392"/>
            <a:ext cx="3063240" cy="658368"/>
          </a:xfrm>
          <a:prstGeom prst="roundRect">
            <a:avLst/>
          </a:prstGeom>
          <a:solidFill>
            <a:srgbClr val="31455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36168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4B941"/>
                </a:solidFill>
              </a:rPr>
              <a:t>Colaboración: </a:t>
            </a:r>
            <a:r>
              <a:rPr sz="1150">
                <a:solidFill>
                  <a:srgbClr val="F5F5F5"/>
                </a:solidFill>
              </a:rPr>
              <a:t>Backlog común, Git/GitHub, revisiones de sprint y decisiones compartidas.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79392"/>
            <a:ext cx="3063240" cy="658368"/>
          </a:xfrm>
          <a:prstGeom prst="roundRect">
            <a:avLst/>
          </a:prstGeom>
          <a:solidFill>
            <a:srgbClr val="31455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436168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4B941"/>
                </a:solidFill>
              </a:rPr>
              <a:t>QA formal: </a:t>
            </a:r>
            <a:r>
              <a:rPr sz="1150">
                <a:solidFill>
                  <a:srgbClr val="F5F5F5"/>
                </a:solidFill>
              </a:rPr>
              <a:t>Diseño de pruebas → ejecución → hallazgos → corrección → revalidación.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279392"/>
            <a:ext cx="3063240" cy="658368"/>
          </a:xfrm>
          <a:prstGeom prst="roundRect">
            <a:avLst/>
          </a:prstGeom>
          <a:solidFill>
            <a:srgbClr val="31455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436168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4B941"/>
                </a:solidFill>
              </a:rPr>
              <a:t>Implantación: </a:t>
            </a:r>
            <a:r>
              <a:rPr sz="1150">
                <a:solidFill>
                  <a:srgbClr val="F5F5F5"/>
                </a:solidFill>
              </a:rPr>
              <a:t>Solución Odoo/PostgreSQL/PWA desplegada en ambiente definido para validación.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515600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>
                <a:solidFill>
                  <a:srgbClr val="F5F5F5"/>
                </a:solidFill>
              </a:rPr>
              <a:t>Ante cambios o riesgos, se evaluarán alternativas según valor, esfuerzo, impacto, riesgo y tiempo disponible.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59436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850">
                <a:solidFill>
                  <a:srgbClr val="AAAEBE"/>
                </a:solidFill>
              </a:rPr>
              <a:t>Proyecto APT · Capstone · Ingeniería en Informática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272784"/>
            <a:ext cx="2286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 b="1">
                <a:solidFill>
                  <a:srgbClr val="F5F5F5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Carta Gantt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BFBF"/>
                </a:solidFill>
              </a:rPr>
              <a:t>Planificación del proyecto · 18 semanas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02368" y="164592"/>
            <a:ext cx="205740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588" y="246888"/>
            <a:ext cx="1673817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932688"/>
            <a:ext cx="2798064" cy="960120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93192" y="1005840"/>
            <a:ext cx="27066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>Actividad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145536" y="932688"/>
            <a:ext cx="1920240" cy="484632"/>
          </a:xfrm>
          <a:prstGeom prst="rect">
            <a:avLst/>
          </a:prstGeom>
          <a:solidFill>
            <a:srgbClr val="2B461D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191256" y="1005840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Fase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65776" y="932688"/>
            <a:ext cx="52806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5111496" y="1005840"/>
            <a:ext cx="51892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Fase 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346436" y="932688"/>
            <a:ext cx="1440180" cy="484632"/>
          </a:xfrm>
          <a:prstGeom prst="rect">
            <a:avLst/>
          </a:prstGeom>
          <a:solidFill>
            <a:srgbClr val="5B351B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0392156" y="1005840"/>
            <a:ext cx="13487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Fase 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4553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19125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62559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367131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2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10565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415137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3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58571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463143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4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506577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511149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5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554583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559155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6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602589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607161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7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650595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655167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8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698601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703173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9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746607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751179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10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794613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799185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11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842619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847191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12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890625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895197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13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938631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943203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14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986637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991209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15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1034643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/>
          <p:nvPr/>
        </p:nvSpPr>
        <p:spPr>
          <a:xfrm>
            <a:off x="1039215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16</a:t>
            </a:r>
            <a:endParaRPr lang="en-US" sz="960" dirty="0"/>
          </a:p>
        </p:txBody>
      </p:sp>
      <p:sp>
        <p:nvSpPr>
          <p:cNvPr id="46" name="Shape 43"/>
          <p:cNvSpPr/>
          <p:nvPr/>
        </p:nvSpPr>
        <p:spPr>
          <a:xfrm>
            <a:off x="1082649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1087221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17</a:t>
            </a:r>
            <a:endParaRPr lang="en-US" sz="960" dirty="0"/>
          </a:p>
        </p:txBody>
      </p:sp>
      <p:sp>
        <p:nvSpPr>
          <p:cNvPr id="48" name="Shape 45"/>
          <p:cNvSpPr/>
          <p:nvPr/>
        </p:nvSpPr>
        <p:spPr>
          <a:xfrm>
            <a:off x="11306556" y="1417320"/>
            <a:ext cx="480060" cy="475488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/>
          <p:nvPr/>
        </p:nvSpPr>
        <p:spPr>
          <a:xfrm>
            <a:off x="11352276" y="1490472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S 18</a:t>
            </a:r>
            <a:endParaRPr lang="en-US" sz="960" dirty="0"/>
          </a:p>
        </p:txBody>
      </p:sp>
      <p:sp>
        <p:nvSpPr>
          <p:cNvPr id="50" name="Shape 47"/>
          <p:cNvSpPr/>
          <p:nvPr/>
        </p:nvSpPr>
        <p:spPr>
          <a:xfrm>
            <a:off x="347472" y="1892808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8"/>
          <p:cNvSpPr/>
          <p:nvPr/>
        </p:nvSpPr>
        <p:spPr>
          <a:xfrm>
            <a:off x="393192" y="1965960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Análisis del caso 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mapa de actores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3145536" y="1892808"/>
            <a:ext cx="480060" cy="484632"/>
          </a:xfrm>
          <a:prstGeom prst="rect">
            <a:avLst/>
          </a:prstGeom>
          <a:solidFill>
            <a:srgbClr val="2B461D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0"/>
          <p:cNvSpPr/>
          <p:nvPr/>
        </p:nvSpPr>
        <p:spPr>
          <a:xfrm>
            <a:off x="3191256" y="1965960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54" name="Shape 51"/>
          <p:cNvSpPr/>
          <p:nvPr/>
        </p:nvSpPr>
        <p:spPr>
          <a:xfrm>
            <a:off x="362559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2"/>
          <p:cNvSpPr/>
          <p:nvPr/>
        </p:nvSpPr>
        <p:spPr>
          <a:xfrm>
            <a:off x="410565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Shape 53"/>
          <p:cNvSpPr/>
          <p:nvPr/>
        </p:nvSpPr>
        <p:spPr>
          <a:xfrm>
            <a:off x="458571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4"/>
          <p:cNvSpPr/>
          <p:nvPr/>
        </p:nvSpPr>
        <p:spPr>
          <a:xfrm>
            <a:off x="506577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5"/>
          <p:cNvSpPr/>
          <p:nvPr/>
        </p:nvSpPr>
        <p:spPr>
          <a:xfrm>
            <a:off x="554583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Shape 56"/>
          <p:cNvSpPr/>
          <p:nvPr/>
        </p:nvSpPr>
        <p:spPr>
          <a:xfrm>
            <a:off x="602589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7"/>
          <p:cNvSpPr/>
          <p:nvPr/>
        </p:nvSpPr>
        <p:spPr>
          <a:xfrm>
            <a:off x="650595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Shape 58"/>
          <p:cNvSpPr/>
          <p:nvPr/>
        </p:nvSpPr>
        <p:spPr>
          <a:xfrm>
            <a:off x="698601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2" name="Shape 59"/>
          <p:cNvSpPr/>
          <p:nvPr/>
        </p:nvSpPr>
        <p:spPr>
          <a:xfrm>
            <a:off x="746607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0"/>
          <p:cNvSpPr/>
          <p:nvPr/>
        </p:nvSpPr>
        <p:spPr>
          <a:xfrm>
            <a:off x="794613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1"/>
          <p:cNvSpPr/>
          <p:nvPr/>
        </p:nvSpPr>
        <p:spPr>
          <a:xfrm>
            <a:off x="842619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2"/>
          <p:cNvSpPr/>
          <p:nvPr/>
        </p:nvSpPr>
        <p:spPr>
          <a:xfrm>
            <a:off x="890625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Shape 63"/>
          <p:cNvSpPr/>
          <p:nvPr/>
        </p:nvSpPr>
        <p:spPr>
          <a:xfrm>
            <a:off x="938631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Shape 64"/>
          <p:cNvSpPr/>
          <p:nvPr/>
        </p:nvSpPr>
        <p:spPr>
          <a:xfrm>
            <a:off x="986637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Shape 65"/>
          <p:cNvSpPr/>
          <p:nvPr/>
        </p:nvSpPr>
        <p:spPr>
          <a:xfrm>
            <a:off x="1034643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Shape 66"/>
          <p:cNvSpPr/>
          <p:nvPr/>
        </p:nvSpPr>
        <p:spPr>
          <a:xfrm>
            <a:off x="1082649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7"/>
          <p:cNvSpPr/>
          <p:nvPr/>
        </p:nvSpPr>
        <p:spPr>
          <a:xfrm>
            <a:off x="11306556" y="189280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Shape 68"/>
          <p:cNvSpPr/>
          <p:nvPr/>
        </p:nvSpPr>
        <p:spPr>
          <a:xfrm>
            <a:off x="347472" y="2377440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Text 69"/>
          <p:cNvSpPr/>
          <p:nvPr/>
        </p:nvSpPr>
        <p:spPr>
          <a:xfrm>
            <a:off x="393192" y="2450592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Visión, Impact Mapping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e historias de usuario</a:t>
            </a:r>
            <a:endParaRPr lang="en-US" sz="1020" dirty="0"/>
          </a:p>
        </p:txBody>
      </p:sp>
      <p:sp>
        <p:nvSpPr>
          <p:cNvPr id="73" name="Shape 70"/>
          <p:cNvSpPr/>
          <p:nvPr/>
        </p:nvSpPr>
        <p:spPr>
          <a:xfrm>
            <a:off x="314553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Shape 71"/>
          <p:cNvSpPr/>
          <p:nvPr/>
        </p:nvSpPr>
        <p:spPr>
          <a:xfrm>
            <a:off x="3625596" y="2377440"/>
            <a:ext cx="480060" cy="484632"/>
          </a:xfrm>
          <a:prstGeom prst="rect">
            <a:avLst/>
          </a:prstGeom>
          <a:solidFill>
            <a:srgbClr val="2B461D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2"/>
          <p:cNvSpPr/>
          <p:nvPr/>
        </p:nvSpPr>
        <p:spPr>
          <a:xfrm>
            <a:off x="3671316" y="2450592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76" name="Shape 73"/>
          <p:cNvSpPr/>
          <p:nvPr/>
        </p:nvSpPr>
        <p:spPr>
          <a:xfrm>
            <a:off x="410565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Shape 74"/>
          <p:cNvSpPr/>
          <p:nvPr/>
        </p:nvSpPr>
        <p:spPr>
          <a:xfrm>
            <a:off x="458571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Shape 75"/>
          <p:cNvSpPr/>
          <p:nvPr/>
        </p:nvSpPr>
        <p:spPr>
          <a:xfrm>
            <a:off x="506577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Shape 76"/>
          <p:cNvSpPr/>
          <p:nvPr/>
        </p:nvSpPr>
        <p:spPr>
          <a:xfrm>
            <a:off x="554583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Shape 77"/>
          <p:cNvSpPr/>
          <p:nvPr/>
        </p:nvSpPr>
        <p:spPr>
          <a:xfrm>
            <a:off x="602589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8"/>
          <p:cNvSpPr/>
          <p:nvPr/>
        </p:nvSpPr>
        <p:spPr>
          <a:xfrm>
            <a:off x="650595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Shape 79"/>
          <p:cNvSpPr/>
          <p:nvPr/>
        </p:nvSpPr>
        <p:spPr>
          <a:xfrm>
            <a:off x="698601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Shape 80"/>
          <p:cNvSpPr/>
          <p:nvPr/>
        </p:nvSpPr>
        <p:spPr>
          <a:xfrm>
            <a:off x="746607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81"/>
          <p:cNvSpPr/>
          <p:nvPr/>
        </p:nvSpPr>
        <p:spPr>
          <a:xfrm>
            <a:off x="794613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Shape 82"/>
          <p:cNvSpPr/>
          <p:nvPr/>
        </p:nvSpPr>
        <p:spPr>
          <a:xfrm>
            <a:off x="842619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Shape 83"/>
          <p:cNvSpPr/>
          <p:nvPr/>
        </p:nvSpPr>
        <p:spPr>
          <a:xfrm>
            <a:off x="890625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Shape 84"/>
          <p:cNvSpPr/>
          <p:nvPr/>
        </p:nvSpPr>
        <p:spPr>
          <a:xfrm>
            <a:off x="938631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Shape 85"/>
          <p:cNvSpPr/>
          <p:nvPr/>
        </p:nvSpPr>
        <p:spPr>
          <a:xfrm>
            <a:off x="986637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Shape 86"/>
          <p:cNvSpPr/>
          <p:nvPr/>
        </p:nvSpPr>
        <p:spPr>
          <a:xfrm>
            <a:off x="1034643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0" name="Shape 87"/>
          <p:cNvSpPr/>
          <p:nvPr/>
        </p:nvSpPr>
        <p:spPr>
          <a:xfrm>
            <a:off x="1082649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Shape 88"/>
          <p:cNvSpPr/>
          <p:nvPr/>
        </p:nvSpPr>
        <p:spPr>
          <a:xfrm>
            <a:off x="11306556" y="237744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2" name="Shape 89"/>
          <p:cNvSpPr/>
          <p:nvPr/>
        </p:nvSpPr>
        <p:spPr>
          <a:xfrm>
            <a:off x="347472" y="2862072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90"/>
          <p:cNvSpPr/>
          <p:nvPr/>
        </p:nvSpPr>
        <p:spPr>
          <a:xfrm>
            <a:off x="393192" y="2935224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User Story Mapping 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Product Backlog</a:t>
            </a:r>
            <a:endParaRPr lang="en-US" sz="1020" dirty="0"/>
          </a:p>
        </p:txBody>
      </p:sp>
      <p:sp>
        <p:nvSpPr>
          <p:cNvPr id="94" name="Shape 91"/>
          <p:cNvSpPr/>
          <p:nvPr/>
        </p:nvSpPr>
        <p:spPr>
          <a:xfrm>
            <a:off x="314553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Shape 92"/>
          <p:cNvSpPr/>
          <p:nvPr/>
        </p:nvSpPr>
        <p:spPr>
          <a:xfrm>
            <a:off x="362559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6" name="Shape 93"/>
          <p:cNvSpPr/>
          <p:nvPr/>
        </p:nvSpPr>
        <p:spPr>
          <a:xfrm>
            <a:off x="4105656" y="2862072"/>
            <a:ext cx="480060" cy="484632"/>
          </a:xfrm>
          <a:prstGeom prst="rect">
            <a:avLst/>
          </a:prstGeom>
          <a:solidFill>
            <a:srgbClr val="2B461D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Text 94"/>
          <p:cNvSpPr/>
          <p:nvPr/>
        </p:nvSpPr>
        <p:spPr>
          <a:xfrm>
            <a:off x="4151376" y="2935224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98" name="Shape 95"/>
          <p:cNvSpPr/>
          <p:nvPr/>
        </p:nvSpPr>
        <p:spPr>
          <a:xfrm>
            <a:off x="458571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Shape 96"/>
          <p:cNvSpPr/>
          <p:nvPr/>
        </p:nvSpPr>
        <p:spPr>
          <a:xfrm>
            <a:off x="506577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97"/>
          <p:cNvSpPr/>
          <p:nvPr/>
        </p:nvSpPr>
        <p:spPr>
          <a:xfrm>
            <a:off x="554583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Shape 98"/>
          <p:cNvSpPr/>
          <p:nvPr/>
        </p:nvSpPr>
        <p:spPr>
          <a:xfrm>
            <a:off x="602589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Shape 99"/>
          <p:cNvSpPr/>
          <p:nvPr/>
        </p:nvSpPr>
        <p:spPr>
          <a:xfrm>
            <a:off x="650595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Shape 100"/>
          <p:cNvSpPr/>
          <p:nvPr/>
        </p:nvSpPr>
        <p:spPr>
          <a:xfrm>
            <a:off x="698601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4" name="Shape 101"/>
          <p:cNvSpPr/>
          <p:nvPr/>
        </p:nvSpPr>
        <p:spPr>
          <a:xfrm>
            <a:off x="746607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Shape 102"/>
          <p:cNvSpPr/>
          <p:nvPr/>
        </p:nvSpPr>
        <p:spPr>
          <a:xfrm>
            <a:off x="794613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6" name="Shape 103"/>
          <p:cNvSpPr/>
          <p:nvPr/>
        </p:nvSpPr>
        <p:spPr>
          <a:xfrm>
            <a:off x="842619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Shape 104"/>
          <p:cNvSpPr/>
          <p:nvPr/>
        </p:nvSpPr>
        <p:spPr>
          <a:xfrm>
            <a:off x="890625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Shape 105"/>
          <p:cNvSpPr/>
          <p:nvPr/>
        </p:nvSpPr>
        <p:spPr>
          <a:xfrm>
            <a:off x="938631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Shape 106"/>
          <p:cNvSpPr/>
          <p:nvPr/>
        </p:nvSpPr>
        <p:spPr>
          <a:xfrm>
            <a:off x="986637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0" name="Shape 107"/>
          <p:cNvSpPr/>
          <p:nvPr/>
        </p:nvSpPr>
        <p:spPr>
          <a:xfrm>
            <a:off x="1034643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108"/>
          <p:cNvSpPr/>
          <p:nvPr/>
        </p:nvSpPr>
        <p:spPr>
          <a:xfrm>
            <a:off x="1082649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2" name="Shape 109"/>
          <p:cNvSpPr/>
          <p:nvPr/>
        </p:nvSpPr>
        <p:spPr>
          <a:xfrm>
            <a:off x="11306556" y="286207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Shape 110"/>
          <p:cNvSpPr/>
          <p:nvPr/>
        </p:nvSpPr>
        <p:spPr>
          <a:xfrm>
            <a:off x="347472" y="3346704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4" name="Text 111"/>
          <p:cNvSpPr/>
          <p:nvPr/>
        </p:nvSpPr>
        <p:spPr>
          <a:xfrm>
            <a:off x="393192" y="3419856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Sprint 0 –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Odoo/PostgreSQL/PWA</a:t>
            </a:r>
            <a:endParaRPr lang="en-US" sz="1020" dirty="0"/>
          </a:p>
        </p:txBody>
      </p:sp>
      <p:sp>
        <p:nvSpPr>
          <p:cNvPr id="115" name="Shape 112"/>
          <p:cNvSpPr/>
          <p:nvPr/>
        </p:nvSpPr>
        <p:spPr>
          <a:xfrm>
            <a:off x="314553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6" name="Shape 113"/>
          <p:cNvSpPr/>
          <p:nvPr/>
        </p:nvSpPr>
        <p:spPr>
          <a:xfrm>
            <a:off x="362559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7" name="Shape 114"/>
          <p:cNvSpPr/>
          <p:nvPr/>
        </p:nvSpPr>
        <p:spPr>
          <a:xfrm>
            <a:off x="410565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8" name="Shape 115"/>
          <p:cNvSpPr/>
          <p:nvPr/>
        </p:nvSpPr>
        <p:spPr>
          <a:xfrm>
            <a:off x="4585716" y="3346704"/>
            <a:ext cx="480060" cy="484632"/>
          </a:xfrm>
          <a:prstGeom prst="rect">
            <a:avLst/>
          </a:prstGeom>
          <a:solidFill>
            <a:srgbClr val="2B461D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9" name="Text 116"/>
          <p:cNvSpPr/>
          <p:nvPr/>
        </p:nvSpPr>
        <p:spPr>
          <a:xfrm>
            <a:off x="4631436" y="3419856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20" name="Shape 117"/>
          <p:cNvSpPr/>
          <p:nvPr/>
        </p:nvSpPr>
        <p:spPr>
          <a:xfrm>
            <a:off x="506577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1" name="Shape 118"/>
          <p:cNvSpPr/>
          <p:nvPr/>
        </p:nvSpPr>
        <p:spPr>
          <a:xfrm>
            <a:off x="554583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2" name="Shape 119"/>
          <p:cNvSpPr/>
          <p:nvPr/>
        </p:nvSpPr>
        <p:spPr>
          <a:xfrm>
            <a:off x="602589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3" name="Shape 120"/>
          <p:cNvSpPr/>
          <p:nvPr/>
        </p:nvSpPr>
        <p:spPr>
          <a:xfrm>
            <a:off x="650595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4" name="Shape 121"/>
          <p:cNvSpPr/>
          <p:nvPr/>
        </p:nvSpPr>
        <p:spPr>
          <a:xfrm>
            <a:off x="698601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5" name="Shape 122"/>
          <p:cNvSpPr/>
          <p:nvPr/>
        </p:nvSpPr>
        <p:spPr>
          <a:xfrm>
            <a:off x="746607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6" name="Shape 123"/>
          <p:cNvSpPr/>
          <p:nvPr/>
        </p:nvSpPr>
        <p:spPr>
          <a:xfrm>
            <a:off x="794613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7" name="Shape 124"/>
          <p:cNvSpPr/>
          <p:nvPr/>
        </p:nvSpPr>
        <p:spPr>
          <a:xfrm>
            <a:off x="842619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8" name="Shape 125"/>
          <p:cNvSpPr/>
          <p:nvPr/>
        </p:nvSpPr>
        <p:spPr>
          <a:xfrm>
            <a:off x="890625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9" name="Shape 126"/>
          <p:cNvSpPr/>
          <p:nvPr/>
        </p:nvSpPr>
        <p:spPr>
          <a:xfrm>
            <a:off x="938631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0" name="Shape 127"/>
          <p:cNvSpPr/>
          <p:nvPr/>
        </p:nvSpPr>
        <p:spPr>
          <a:xfrm>
            <a:off x="986637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1" name="Shape 128"/>
          <p:cNvSpPr/>
          <p:nvPr/>
        </p:nvSpPr>
        <p:spPr>
          <a:xfrm>
            <a:off x="1034643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2" name="Shape 129"/>
          <p:cNvSpPr/>
          <p:nvPr/>
        </p:nvSpPr>
        <p:spPr>
          <a:xfrm>
            <a:off x="1082649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3" name="Shape 130"/>
          <p:cNvSpPr/>
          <p:nvPr/>
        </p:nvSpPr>
        <p:spPr>
          <a:xfrm>
            <a:off x="11306556" y="334670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4" name="Shape 131"/>
          <p:cNvSpPr/>
          <p:nvPr/>
        </p:nvSpPr>
        <p:spPr>
          <a:xfrm>
            <a:off x="347472" y="3831336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5" name="Text 132"/>
          <p:cNvSpPr/>
          <p:nvPr/>
        </p:nvSpPr>
        <p:spPr>
          <a:xfrm>
            <a:off x="393192" y="3904488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Sprint 1 – Vehículos 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estados</a:t>
            </a:r>
            <a:endParaRPr lang="en-US" sz="1020" dirty="0"/>
          </a:p>
        </p:txBody>
      </p:sp>
      <p:sp>
        <p:nvSpPr>
          <p:cNvPr id="136" name="Shape 133"/>
          <p:cNvSpPr/>
          <p:nvPr/>
        </p:nvSpPr>
        <p:spPr>
          <a:xfrm>
            <a:off x="314553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7" name="Shape 134"/>
          <p:cNvSpPr/>
          <p:nvPr/>
        </p:nvSpPr>
        <p:spPr>
          <a:xfrm>
            <a:off x="362559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8" name="Shape 135"/>
          <p:cNvSpPr/>
          <p:nvPr/>
        </p:nvSpPr>
        <p:spPr>
          <a:xfrm>
            <a:off x="410565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9" name="Shape 136"/>
          <p:cNvSpPr/>
          <p:nvPr/>
        </p:nvSpPr>
        <p:spPr>
          <a:xfrm>
            <a:off x="458571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0" name="Shape 137"/>
          <p:cNvSpPr/>
          <p:nvPr/>
        </p:nvSpPr>
        <p:spPr>
          <a:xfrm>
            <a:off x="5065776" y="3831336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1" name="Text 138"/>
          <p:cNvSpPr/>
          <p:nvPr/>
        </p:nvSpPr>
        <p:spPr>
          <a:xfrm>
            <a:off x="5111496" y="3904488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42" name="Shape 139"/>
          <p:cNvSpPr/>
          <p:nvPr/>
        </p:nvSpPr>
        <p:spPr>
          <a:xfrm>
            <a:off x="5545836" y="3831336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3" name="Text 140"/>
          <p:cNvSpPr/>
          <p:nvPr/>
        </p:nvSpPr>
        <p:spPr>
          <a:xfrm>
            <a:off x="5591556" y="3904488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44" name="Shape 141"/>
          <p:cNvSpPr/>
          <p:nvPr/>
        </p:nvSpPr>
        <p:spPr>
          <a:xfrm>
            <a:off x="6025896" y="3831336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5" name="Text 142"/>
          <p:cNvSpPr/>
          <p:nvPr/>
        </p:nvSpPr>
        <p:spPr>
          <a:xfrm>
            <a:off x="6071616" y="3904488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46" name="Shape 143"/>
          <p:cNvSpPr/>
          <p:nvPr/>
        </p:nvSpPr>
        <p:spPr>
          <a:xfrm>
            <a:off x="650595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7" name="Shape 144"/>
          <p:cNvSpPr/>
          <p:nvPr/>
        </p:nvSpPr>
        <p:spPr>
          <a:xfrm>
            <a:off x="698601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8" name="Shape 145"/>
          <p:cNvSpPr/>
          <p:nvPr/>
        </p:nvSpPr>
        <p:spPr>
          <a:xfrm>
            <a:off x="746607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9" name="Shape 146"/>
          <p:cNvSpPr/>
          <p:nvPr/>
        </p:nvSpPr>
        <p:spPr>
          <a:xfrm>
            <a:off x="794613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0" name="Shape 147"/>
          <p:cNvSpPr/>
          <p:nvPr/>
        </p:nvSpPr>
        <p:spPr>
          <a:xfrm>
            <a:off x="842619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Shape 148"/>
          <p:cNvSpPr/>
          <p:nvPr/>
        </p:nvSpPr>
        <p:spPr>
          <a:xfrm>
            <a:off x="890625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2" name="Shape 149"/>
          <p:cNvSpPr/>
          <p:nvPr/>
        </p:nvSpPr>
        <p:spPr>
          <a:xfrm>
            <a:off x="938631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3" name="Shape 150"/>
          <p:cNvSpPr/>
          <p:nvPr/>
        </p:nvSpPr>
        <p:spPr>
          <a:xfrm>
            <a:off x="986637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4" name="Shape 151"/>
          <p:cNvSpPr/>
          <p:nvPr/>
        </p:nvSpPr>
        <p:spPr>
          <a:xfrm>
            <a:off x="1034643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5" name="Shape 152"/>
          <p:cNvSpPr/>
          <p:nvPr/>
        </p:nvSpPr>
        <p:spPr>
          <a:xfrm>
            <a:off x="1082649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6" name="Shape 153"/>
          <p:cNvSpPr/>
          <p:nvPr/>
        </p:nvSpPr>
        <p:spPr>
          <a:xfrm>
            <a:off x="11306556" y="3831336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7" name="Shape 154"/>
          <p:cNvSpPr/>
          <p:nvPr/>
        </p:nvSpPr>
        <p:spPr>
          <a:xfrm>
            <a:off x="347472" y="4315968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8" name="Text 155"/>
          <p:cNvSpPr/>
          <p:nvPr/>
        </p:nvSpPr>
        <p:spPr>
          <a:xfrm>
            <a:off x="393192" y="4389120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Sprint 2 –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Mantenciones y alertas</a:t>
            </a:r>
            <a:endParaRPr lang="en-US" sz="1020" dirty="0"/>
          </a:p>
        </p:txBody>
      </p:sp>
      <p:sp>
        <p:nvSpPr>
          <p:cNvPr id="159" name="Shape 156"/>
          <p:cNvSpPr/>
          <p:nvPr/>
        </p:nvSpPr>
        <p:spPr>
          <a:xfrm>
            <a:off x="314553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0" name="Shape 157"/>
          <p:cNvSpPr/>
          <p:nvPr/>
        </p:nvSpPr>
        <p:spPr>
          <a:xfrm>
            <a:off x="362559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1" name="Shape 158"/>
          <p:cNvSpPr/>
          <p:nvPr/>
        </p:nvSpPr>
        <p:spPr>
          <a:xfrm>
            <a:off x="410565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2" name="Shape 159"/>
          <p:cNvSpPr/>
          <p:nvPr/>
        </p:nvSpPr>
        <p:spPr>
          <a:xfrm>
            <a:off x="458571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3" name="Shape 160"/>
          <p:cNvSpPr/>
          <p:nvPr/>
        </p:nvSpPr>
        <p:spPr>
          <a:xfrm>
            <a:off x="506577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4" name="Shape 161"/>
          <p:cNvSpPr/>
          <p:nvPr/>
        </p:nvSpPr>
        <p:spPr>
          <a:xfrm>
            <a:off x="554583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5" name="Shape 162"/>
          <p:cNvSpPr/>
          <p:nvPr/>
        </p:nvSpPr>
        <p:spPr>
          <a:xfrm>
            <a:off x="602589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6" name="Shape 163"/>
          <p:cNvSpPr/>
          <p:nvPr/>
        </p:nvSpPr>
        <p:spPr>
          <a:xfrm>
            <a:off x="6505956" y="4315968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7" name="Text 164"/>
          <p:cNvSpPr/>
          <p:nvPr/>
        </p:nvSpPr>
        <p:spPr>
          <a:xfrm>
            <a:off x="6551676" y="4389120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68" name="Shape 165"/>
          <p:cNvSpPr/>
          <p:nvPr/>
        </p:nvSpPr>
        <p:spPr>
          <a:xfrm>
            <a:off x="6986016" y="4315968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9" name="Text 166"/>
          <p:cNvSpPr/>
          <p:nvPr/>
        </p:nvSpPr>
        <p:spPr>
          <a:xfrm>
            <a:off x="7031736" y="4389120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70" name="Shape 167"/>
          <p:cNvSpPr/>
          <p:nvPr/>
        </p:nvSpPr>
        <p:spPr>
          <a:xfrm>
            <a:off x="7466076" y="4315968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1" name="Text 168"/>
          <p:cNvSpPr/>
          <p:nvPr/>
        </p:nvSpPr>
        <p:spPr>
          <a:xfrm>
            <a:off x="7511796" y="4389120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72" name="Shape 169"/>
          <p:cNvSpPr/>
          <p:nvPr/>
        </p:nvSpPr>
        <p:spPr>
          <a:xfrm>
            <a:off x="794613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3" name="Shape 170"/>
          <p:cNvSpPr/>
          <p:nvPr/>
        </p:nvSpPr>
        <p:spPr>
          <a:xfrm>
            <a:off x="842619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4" name="Shape 171"/>
          <p:cNvSpPr/>
          <p:nvPr/>
        </p:nvSpPr>
        <p:spPr>
          <a:xfrm>
            <a:off x="890625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5" name="Shape 172"/>
          <p:cNvSpPr/>
          <p:nvPr/>
        </p:nvSpPr>
        <p:spPr>
          <a:xfrm>
            <a:off x="938631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6" name="Shape 173"/>
          <p:cNvSpPr/>
          <p:nvPr/>
        </p:nvSpPr>
        <p:spPr>
          <a:xfrm>
            <a:off x="986637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7" name="Shape 174"/>
          <p:cNvSpPr/>
          <p:nvPr/>
        </p:nvSpPr>
        <p:spPr>
          <a:xfrm>
            <a:off x="1034643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8" name="Shape 175"/>
          <p:cNvSpPr/>
          <p:nvPr/>
        </p:nvSpPr>
        <p:spPr>
          <a:xfrm>
            <a:off x="1082649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9" name="Shape 176"/>
          <p:cNvSpPr/>
          <p:nvPr/>
        </p:nvSpPr>
        <p:spPr>
          <a:xfrm>
            <a:off x="11306556" y="4315968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0" name="Shape 177"/>
          <p:cNvSpPr/>
          <p:nvPr/>
        </p:nvSpPr>
        <p:spPr>
          <a:xfrm>
            <a:off x="347472" y="4800600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1" name="Text 178"/>
          <p:cNvSpPr/>
          <p:nvPr/>
        </p:nvSpPr>
        <p:spPr>
          <a:xfrm>
            <a:off x="393192" y="4873752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Sprint 3 – Insumos,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costos y reportes</a:t>
            </a:r>
            <a:endParaRPr lang="en-US" sz="1020" dirty="0"/>
          </a:p>
        </p:txBody>
      </p:sp>
      <p:sp>
        <p:nvSpPr>
          <p:cNvPr id="182" name="Shape 179"/>
          <p:cNvSpPr/>
          <p:nvPr/>
        </p:nvSpPr>
        <p:spPr>
          <a:xfrm>
            <a:off x="314553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3" name="Shape 180"/>
          <p:cNvSpPr/>
          <p:nvPr/>
        </p:nvSpPr>
        <p:spPr>
          <a:xfrm>
            <a:off x="362559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4" name="Shape 181"/>
          <p:cNvSpPr/>
          <p:nvPr/>
        </p:nvSpPr>
        <p:spPr>
          <a:xfrm>
            <a:off x="410565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5" name="Shape 182"/>
          <p:cNvSpPr/>
          <p:nvPr/>
        </p:nvSpPr>
        <p:spPr>
          <a:xfrm>
            <a:off x="458571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6" name="Shape 183"/>
          <p:cNvSpPr/>
          <p:nvPr/>
        </p:nvSpPr>
        <p:spPr>
          <a:xfrm>
            <a:off x="506577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7" name="Shape 184"/>
          <p:cNvSpPr/>
          <p:nvPr/>
        </p:nvSpPr>
        <p:spPr>
          <a:xfrm>
            <a:off x="554583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8" name="Shape 185"/>
          <p:cNvSpPr/>
          <p:nvPr/>
        </p:nvSpPr>
        <p:spPr>
          <a:xfrm>
            <a:off x="602589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9" name="Shape 186"/>
          <p:cNvSpPr/>
          <p:nvPr/>
        </p:nvSpPr>
        <p:spPr>
          <a:xfrm>
            <a:off x="650595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0" name="Shape 187"/>
          <p:cNvSpPr/>
          <p:nvPr/>
        </p:nvSpPr>
        <p:spPr>
          <a:xfrm>
            <a:off x="698601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1" name="Shape 188"/>
          <p:cNvSpPr/>
          <p:nvPr/>
        </p:nvSpPr>
        <p:spPr>
          <a:xfrm>
            <a:off x="746607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2" name="Shape 189"/>
          <p:cNvSpPr/>
          <p:nvPr/>
        </p:nvSpPr>
        <p:spPr>
          <a:xfrm>
            <a:off x="7946136" y="4800600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3" name="Text 190"/>
          <p:cNvSpPr/>
          <p:nvPr/>
        </p:nvSpPr>
        <p:spPr>
          <a:xfrm>
            <a:off x="7991856" y="4873752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94" name="Shape 191"/>
          <p:cNvSpPr/>
          <p:nvPr/>
        </p:nvSpPr>
        <p:spPr>
          <a:xfrm>
            <a:off x="8426196" y="4800600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5" name="Text 192"/>
          <p:cNvSpPr/>
          <p:nvPr/>
        </p:nvSpPr>
        <p:spPr>
          <a:xfrm>
            <a:off x="8471916" y="4873752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96" name="Shape 193"/>
          <p:cNvSpPr/>
          <p:nvPr/>
        </p:nvSpPr>
        <p:spPr>
          <a:xfrm>
            <a:off x="8906256" y="4800600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7" name="Text 194"/>
          <p:cNvSpPr/>
          <p:nvPr/>
        </p:nvSpPr>
        <p:spPr>
          <a:xfrm>
            <a:off x="8951976" y="4873752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198" name="Shape 195"/>
          <p:cNvSpPr/>
          <p:nvPr/>
        </p:nvSpPr>
        <p:spPr>
          <a:xfrm>
            <a:off x="938631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9" name="Shape 196"/>
          <p:cNvSpPr/>
          <p:nvPr/>
        </p:nvSpPr>
        <p:spPr>
          <a:xfrm>
            <a:off x="986637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0" name="Shape 197"/>
          <p:cNvSpPr/>
          <p:nvPr/>
        </p:nvSpPr>
        <p:spPr>
          <a:xfrm>
            <a:off x="1034643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1" name="Shape 198"/>
          <p:cNvSpPr/>
          <p:nvPr/>
        </p:nvSpPr>
        <p:spPr>
          <a:xfrm>
            <a:off x="1082649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2" name="Shape 199"/>
          <p:cNvSpPr/>
          <p:nvPr/>
        </p:nvSpPr>
        <p:spPr>
          <a:xfrm>
            <a:off x="11306556" y="4800600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3" name="Shape 200"/>
          <p:cNvSpPr/>
          <p:nvPr/>
        </p:nvSpPr>
        <p:spPr>
          <a:xfrm>
            <a:off x="347472" y="5285232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4" name="Text 201"/>
          <p:cNvSpPr/>
          <p:nvPr/>
        </p:nvSpPr>
        <p:spPr>
          <a:xfrm>
            <a:off x="393192" y="5358384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QA, integración, PWA y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correcciones</a:t>
            </a:r>
            <a:endParaRPr lang="en-US" sz="1020" dirty="0"/>
          </a:p>
        </p:txBody>
      </p:sp>
      <p:sp>
        <p:nvSpPr>
          <p:cNvPr id="205" name="Shape 202"/>
          <p:cNvSpPr/>
          <p:nvPr/>
        </p:nvSpPr>
        <p:spPr>
          <a:xfrm>
            <a:off x="314553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6" name="Shape 203"/>
          <p:cNvSpPr/>
          <p:nvPr/>
        </p:nvSpPr>
        <p:spPr>
          <a:xfrm>
            <a:off x="362559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7" name="Shape 204"/>
          <p:cNvSpPr/>
          <p:nvPr/>
        </p:nvSpPr>
        <p:spPr>
          <a:xfrm>
            <a:off x="410565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8" name="Shape 205"/>
          <p:cNvSpPr/>
          <p:nvPr/>
        </p:nvSpPr>
        <p:spPr>
          <a:xfrm>
            <a:off x="458571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9" name="Shape 206"/>
          <p:cNvSpPr/>
          <p:nvPr/>
        </p:nvSpPr>
        <p:spPr>
          <a:xfrm>
            <a:off x="506577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0" name="Shape 207"/>
          <p:cNvSpPr/>
          <p:nvPr/>
        </p:nvSpPr>
        <p:spPr>
          <a:xfrm>
            <a:off x="554583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1" name="Shape 208"/>
          <p:cNvSpPr/>
          <p:nvPr/>
        </p:nvSpPr>
        <p:spPr>
          <a:xfrm>
            <a:off x="602589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2" name="Shape 209"/>
          <p:cNvSpPr/>
          <p:nvPr/>
        </p:nvSpPr>
        <p:spPr>
          <a:xfrm>
            <a:off x="650595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3" name="Shape 210"/>
          <p:cNvSpPr/>
          <p:nvPr/>
        </p:nvSpPr>
        <p:spPr>
          <a:xfrm>
            <a:off x="698601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4" name="Shape 211"/>
          <p:cNvSpPr/>
          <p:nvPr/>
        </p:nvSpPr>
        <p:spPr>
          <a:xfrm>
            <a:off x="746607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5" name="Shape 212"/>
          <p:cNvSpPr/>
          <p:nvPr/>
        </p:nvSpPr>
        <p:spPr>
          <a:xfrm>
            <a:off x="794613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6" name="Shape 213"/>
          <p:cNvSpPr/>
          <p:nvPr/>
        </p:nvSpPr>
        <p:spPr>
          <a:xfrm>
            <a:off x="842619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7" name="Shape 214"/>
          <p:cNvSpPr/>
          <p:nvPr/>
        </p:nvSpPr>
        <p:spPr>
          <a:xfrm>
            <a:off x="890625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8" name="Shape 215"/>
          <p:cNvSpPr/>
          <p:nvPr/>
        </p:nvSpPr>
        <p:spPr>
          <a:xfrm>
            <a:off x="9386316" y="5285232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9" name="Text 216"/>
          <p:cNvSpPr/>
          <p:nvPr/>
        </p:nvSpPr>
        <p:spPr>
          <a:xfrm>
            <a:off x="9432036" y="5358384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220" name="Shape 217"/>
          <p:cNvSpPr/>
          <p:nvPr/>
        </p:nvSpPr>
        <p:spPr>
          <a:xfrm>
            <a:off x="9866376" y="5285232"/>
            <a:ext cx="480060" cy="484632"/>
          </a:xfrm>
          <a:prstGeom prst="rect">
            <a:avLst/>
          </a:prstGeom>
          <a:solidFill>
            <a:srgbClr val="4B3B00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1" name="Text 218"/>
          <p:cNvSpPr/>
          <p:nvPr/>
        </p:nvSpPr>
        <p:spPr>
          <a:xfrm>
            <a:off x="9912096" y="5358384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222" name="Shape 219"/>
          <p:cNvSpPr/>
          <p:nvPr/>
        </p:nvSpPr>
        <p:spPr>
          <a:xfrm>
            <a:off x="10346436" y="5285232"/>
            <a:ext cx="480060" cy="484632"/>
          </a:xfrm>
          <a:prstGeom prst="rect">
            <a:avLst/>
          </a:prstGeom>
          <a:solidFill>
            <a:srgbClr val="5B351B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3" name="Text 220"/>
          <p:cNvSpPr/>
          <p:nvPr/>
        </p:nvSpPr>
        <p:spPr>
          <a:xfrm>
            <a:off x="10392156" y="5358384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224" name="Shape 221"/>
          <p:cNvSpPr/>
          <p:nvPr/>
        </p:nvSpPr>
        <p:spPr>
          <a:xfrm>
            <a:off x="1082649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5" name="Shape 222"/>
          <p:cNvSpPr/>
          <p:nvPr/>
        </p:nvSpPr>
        <p:spPr>
          <a:xfrm>
            <a:off x="11306556" y="5285232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6" name="Shape 223"/>
          <p:cNvSpPr/>
          <p:nvPr/>
        </p:nvSpPr>
        <p:spPr>
          <a:xfrm>
            <a:off x="347472" y="5769864"/>
            <a:ext cx="2798064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7" name="Text 224"/>
          <p:cNvSpPr/>
          <p:nvPr/>
        </p:nvSpPr>
        <p:spPr>
          <a:xfrm>
            <a:off x="393192" y="5843016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Cierre, informe, video</a:t>
            </a:r>
            <a:endParaRPr lang="en-US" sz="1020" dirty="0"/>
          </a:p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demo y defensa</a:t>
            </a:r>
            <a:endParaRPr lang="en-US" sz="1020" dirty="0"/>
          </a:p>
        </p:txBody>
      </p:sp>
      <p:sp>
        <p:nvSpPr>
          <p:cNvPr id="228" name="Shape 225"/>
          <p:cNvSpPr/>
          <p:nvPr/>
        </p:nvSpPr>
        <p:spPr>
          <a:xfrm>
            <a:off x="314553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9" name="Shape 226"/>
          <p:cNvSpPr/>
          <p:nvPr/>
        </p:nvSpPr>
        <p:spPr>
          <a:xfrm>
            <a:off x="362559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0" name="Shape 227"/>
          <p:cNvSpPr/>
          <p:nvPr/>
        </p:nvSpPr>
        <p:spPr>
          <a:xfrm>
            <a:off x="410565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1" name="Shape 228"/>
          <p:cNvSpPr/>
          <p:nvPr/>
        </p:nvSpPr>
        <p:spPr>
          <a:xfrm>
            <a:off x="458571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2" name="Shape 229"/>
          <p:cNvSpPr/>
          <p:nvPr/>
        </p:nvSpPr>
        <p:spPr>
          <a:xfrm>
            <a:off x="506577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3" name="Shape 230"/>
          <p:cNvSpPr/>
          <p:nvPr/>
        </p:nvSpPr>
        <p:spPr>
          <a:xfrm>
            <a:off x="554583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4" name="Shape 231"/>
          <p:cNvSpPr/>
          <p:nvPr/>
        </p:nvSpPr>
        <p:spPr>
          <a:xfrm>
            <a:off x="602589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5" name="Shape 232"/>
          <p:cNvSpPr/>
          <p:nvPr/>
        </p:nvSpPr>
        <p:spPr>
          <a:xfrm>
            <a:off x="650595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6" name="Shape 233"/>
          <p:cNvSpPr/>
          <p:nvPr/>
        </p:nvSpPr>
        <p:spPr>
          <a:xfrm>
            <a:off x="698601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7" name="Shape 234"/>
          <p:cNvSpPr/>
          <p:nvPr/>
        </p:nvSpPr>
        <p:spPr>
          <a:xfrm>
            <a:off x="746607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8" name="Shape 235"/>
          <p:cNvSpPr/>
          <p:nvPr/>
        </p:nvSpPr>
        <p:spPr>
          <a:xfrm>
            <a:off x="794613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9" name="Shape 236"/>
          <p:cNvSpPr/>
          <p:nvPr/>
        </p:nvSpPr>
        <p:spPr>
          <a:xfrm>
            <a:off x="842619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0" name="Shape 237"/>
          <p:cNvSpPr/>
          <p:nvPr/>
        </p:nvSpPr>
        <p:spPr>
          <a:xfrm>
            <a:off x="890625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1" name="Shape 238"/>
          <p:cNvSpPr/>
          <p:nvPr/>
        </p:nvSpPr>
        <p:spPr>
          <a:xfrm>
            <a:off x="938631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2" name="Shape 239"/>
          <p:cNvSpPr/>
          <p:nvPr/>
        </p:nvSpPr>
        <p:spPr>
          <a:xfrm>
            <a:off x="986637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3" name="Shape 240"/>
          <p:cNvSpPr/>
          <p:nvPr/>
        </p:nvSpPr>
        <p:spPr>
          <a:xfrm>
            <a:off x="10346436" y="5769864"/>
            <a:ext cx="480060" cy="484632"/>
          </a:xfrm>
          <a:prstGeom prst="rect">
            <a:avLst/>
          </a:prstGeom>
          <a:solidFill>
            <a:srgbClr val="262626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4" name="Shape 241"/>
          <p:cNvSpPr/>
          <p:nvPr/>
        </p:nvSpPr>
        <p:spPr>
          <a:xfrm>
            <a:off x="10826496" y="5769864"/>
            <a:ext cx="480060" cy="484632"/>
          </a:xfrm>
          <a:prstGeom prst="rect">
            <a:avLst/>
          </a:prstGeom>
          <a:solidFill>
            <a:srgbClr val="5B351B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5" name="Text 242"/>
          <p:cNvSpPr/>
          <p:nvPr/>
        </p:nvSpPr>
        <p:spPr>
          <a:xfrm>
            <a:off x="10872216" y="5843016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246" name="Shape 243"/>
          <p:cNvSpPr/>
          <p:nvPr/>
        </p:nvSpPr>
        <p:spPr>
          <a:xfrm>
            <a:off x="11306556" y="5769864"/>
            <a:ext cx="480060" cy="484632"/>
          </a:xfrm>
          <a:prstGeom prst="rect">
            <a:avLst/>
          </a:prstGeom>
          <a:solidFill>
            <a:srgbClr val="5B351B"/>
          </a:solidFill>
          <a:ln w="9525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7" name="Text 244"/>
          <p:cNvSpPr/>
          <p:nvPr/>
        </p:nvSpPr>
        <p:spPr>
          <a:xfrm>
            <a:off x="11352276" y="5843016"/>
            <a:ext cx="3886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X</a:t>
            </a:r>
            <a:endParaRPr lang="en-US" sz="1320" dirty="0"/>
          </a:p>
        </p:txBody>
      </p:sp>
      <p:sp>
        <p:nvSpPr>
          <p:cNvPr id="248" name="Text 245"/>
          <p:cNvSpPr/>
          <p:nvPr/>
        </p:nvSpPr>
        <p:spPr>
          <a:xfrm>
            <a:off x="457200" y="645566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BFBF"/>
                </a:solidFill>
              </a:rPr>
              <a:t>La Carta Gantt replica la planificación del informe: Fase 1 (S1–S4), Fase 2 (S5–S15) y Fase 3 (S16–S18).</a:t>
            </a:r>
            <a:endParaRPr lang="en-US" sz="900" dirty="0"/>
          </a:p>
        </p:txBody>
      </p:sp>
      <p:sp>
        <p:nvSpPr>
          <p:cNvPr id="249" name="Text 246"/>
          <p:cNvSpPr/>
          <p:nvPr/>
        </p:nvSpPr>
        <p:spPr>
          <a:xfrm>
            <a:off x="11338560" y="6446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 b="1">
                <a:solidFill>
                  <a:srgbClr val="F5F5F5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44030"/>
            <a:ext cx="1920240" cy="4720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868680"/>
            <a:ext cx="10835640" cy="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85800" y="20116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2B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del proyecto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85800" y="6583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770"/>
                </a:solidFill>
              </a:rPr>
              <a:t>Productos evaluables durante el semestre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1463040" cy="525780"/>
          </a:xfrm>
          <a:prstGeom prst="rect">
            <a:avLst/>
          </a:prstGeom>
          <a:solidFill>
            <a:srgbClr val="002B49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286000" y="1417320"/>
            <a:ext cx="9052560" cy="525780"/>
          </a:xfrm>
          <a:prstGeom prst="rect">
            <a:avLst/>
          </a:prstGeom>
          <a:solidFill>
            <a:srgbClr val="002B49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Evidencia clave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1943100"/>
            <a:ext cx="146304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Fase 1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2286000" y="1943100"/>
            <a:ext cx="905256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Análisis, mapa de actores, Impact Mapping, épicas, historias y Product Backlog.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1463040" cy="525780"/>
          </a:xfrm>
          <a:prstGeom prst="rect">
            <a:avLst/>
          </a:prstGeom>
          <a:solidFill>
            <a:srgbClr val="EAF3FB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Fase 2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2286000" y="2468880"/>
            <a:ext cx="9052560" cy="525780"/>
          </a:xfrm>
          <a:prstGeom prst="rect">
            <a:avLst/>
          </a:prstGeom>
          <a:solidFill>
            <a:srgbClr val="EAF3FB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Modelo Odoo/PostgreSQL, repositorio, Sprint 0, Sprint 1, Sprint 2 y Sprint 3.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822960" y="2994660"/>
            <a:ext cx="146304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324D"/>
                </a:solidFill>
              </a:rPr>
              <a:t>Fase 3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2286000" y="2994660"/>
            <a:ext cx="905256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F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003057"/>
                </a:solidFill>
              </a:rPr>
              <a:t>Matriz QA, resultados de pruebas, software integrado e implantado, manual, informe y video demo.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8686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B49"/>
                </a:solidFill>
              </a:rPr>
              <a:t>Indicadores de calidad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2E7D32"/>
                </a:solidFill>
              </a:rPr>
              <a:t>✓</a:t>
            </a:r>
            <a:endParaRPr lang="en-US" sz="1270" dirty="0"/>
          </a:p>
        </p:txBody>
      </p:sp>
      <p:sp>
        <p:nvSpPr>
          <p:cNvPr id="16" name="Text 13"/>
          <p:cNvSpPr/>
          <p:nvPr/>
        </p:nvSpPr>
        <p:spPr>
          <a:xfrm>
            <a:off x="1234440" y="45079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7324D"/>
                </a:solidFill>
              </a:rPr>
              <a:t>Modelos de datos implementados en Odoo/PostgreSQL.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914400" y="49103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2E7D32"/>
                </a:solidFill>
              </a:rPr>
              <a:t>✓</a:t>
            </a:r>
            <a:endParaRPr lang="en-US" sz="1270" dirty="0"/>
          </a:p>
        </p:txBody>
      </p:sp>
      <p:sp>
        <p:nvSpPr>
          <p:cNvPr id="18" name="Text 15"/>
          <p:cNvSpPr/>
          <p:nvPr/>
        </p:nvSpPr>
        <p:spPr>
          <a:xfrm>
            <a:off x="1234440" y="491947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7324D"/>
                </a:solidFill>
              </a:rPr>
              <a:t>Incrementos funcionales validados al cierre de cada sprint.</a:t>
            </a:r>
            <a:endParaRPr lang="en-US" sz="1270" dirty="0"/>
          </a:p>
        </p:txBody>
      </p:sp>
      <p:sp>
        <p:nvSpPr>
          <p:cNvPr id="19" name="Text 16"/>
          <p:cNvSpPr/>
          <p:nvPr/>
        </p:nvSpPr>
        <p:spPr>
          <a:xfrm>
            <a:off x="914400" y="53218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2E7D32"/>
                </a:solidFill>
              </a:rPr>
              <a:t>✓</a:t>
            </a:r>
            <a:endParaRPr lang="en-US" sz="1270" dirty="0"/>
          </a:p>
        </p:txBody>
      </p:sp>
      <p:sp>
        <p:nvSpPr>
          <p:cNvPr id="20" name="Text 17"/>
          <p:cNvSpPr/>
          <p:nvPr/>
        </p:nvSpPr>
        <p:spPr>
          <a:xfrm>
            <a:off x="1234440" y="53309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003057"/>
                </a:solidFill>
              </a:rPr>
              <a:t>Pruebas funcionales e integradas con hallazgos, corrección y revalidación.</a:t>
            </a:r>
            <a:endParaRPr lang="en-US" sz="1270" dirty="0"/>
          </a:p>
        </p:txBody>
      </p:sp>
      <p:sp>
        <p:nvSpPr>
          <p:cNvPr id="21" name="Text 18"/>
          <p:cNvSpPr/>
          <p:nvPr/>
        </p:nvSpPr>
        <p:spPr>
          <a:xfrm>
            <a:off x="685800" y="65105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</a:rPr>
              <a:t>Proyecto APT · Capstone · Ingeniería en Informática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201400" y="64922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 b="1">
                <a:solidFill>
                  <a:srgbClr val="003057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45168" y="210312"/>
            <a:ext cx="228600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/mnt/data/logo_du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95751"/>
            <a:ext cx="2057400" cy="505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15727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DB913"/>
                </a:solidFill>
              </a:rPr>
              <a:t>El Proyecto APT es factible, relevante y coherente con las competencias de Ingeniería en Informática.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788920"/>
            <a:ext cx="3246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4"/>
          <p:cNvSpPr/>
          <p:nvPr/>
        </p:nvSpPr>
        <p:spPr>
          <a:xfrm>
            <a:off x="4480560" y="2788920"/>
            <a:ext cx="3246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8138160" y="2788920"/>
            <a:ext cx="3246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051560" y="3035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B49"/>
                </a:solidFill>
              </a:rPr>
              <a:t>Valor operativo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7324D"/>
                </a:solidFill>
              </a:rPr>
              <a:t>Mejor acceso a información de vehículos y mantenciones.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709160" y="3035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B49"/>
                </a:solidFill>
              </a:rPr>
              <a:t>Base técnica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54880" y="3566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7324D"/>
                </a:solidFill>
              </a:rPr>
              <a:t>Odoo + PostgreSQL + PWA para web y móvil.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8366760" y="3035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B49"/>
                </a:solidFill>
              </a:rPr>
              <a:t>Gestión APT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480" y="3566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7324D"/>
                </a:solidFill>
              </a:rPr>
              <a:t>Scrum, sprints, QA, evidencias y cierre formal.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914400" y="53218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 b="1">
                <a:solidFill>
                  <a:srgbClr val="F5F5F5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1147</Words>
  <Application>Microsoft Macintosh PowerPoint</Application>
  <PresentationFormat>Panorámica</PresentationFormat>
  <Paragraphs>244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 y Seguimiento de Mantención de Vehículos de Emergencia</dc:title>
  <dc:subject>Proyecto APT Bomberos Talcahuano</dc:subject>
  <dc:creator>Rodrigo Saavedra</dc:creator>
  <cp:lastModifiedBy>79opj</cp:lastModifiedBy>
  <cp:revision>4</cp:revision>
  <dcterms:created xsi:type="dcterms:W3CDTF">2026-09-02T12:49:31Z</dcterms:created>
  <dcterms:modified xsi:type="dcterms:W3CDTF">2026-09-02T18:09:12Z</dcterms:modified>
</cp:coreProperties>
</file>